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79867CD-CD09-0EEC-D165-96584688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" y="64007"/>
            <a:ext cx="12015216" cy="5120639"/>
          </a:xfrm>
        </p:spPr>
        <p:txBody>
          <a:bodyPr>
            <a:normAutofit/>
          </a:bodyPr>
          <a:lstStyle>
            <a:lvl1pPr>
              <a:defRPr sz="11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5360878"/>
            <a:ext cx="10037064" cy="566928"/>
          </a:xfrm>
        </p:spPr>
        <p:txBody>
          <a:bodyPr anchor="b" anchorCtr="0">
            <a:normAutofit/>
          </a:bodyPr>
          <a:lstStyle>
            <a:lvl1pPr marL="0" indent="0" algn="r">
              <a:lnSpc>
                <a:spcPct val="10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1F8589-B640-4540-D0AD-2B0461CD3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49927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58264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6"/>
            <a:ext cx="10840626" cy="7905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135" y="1880756"/>
            <a:ext cx="10840627" cy="45581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144482-F463-E942-01AE-69DF54F41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2455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7847" y="4676177"/>
            <a:ext cx="10835639" cy="131951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7847" y="6065134"/>
            <a:ext cx="10835639" cy="373766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1999" cy="446782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7765164-0D02-5316-1845-119CB0111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5715000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A2081-8ED6-0719-D0B6-2818D60193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1F47A-9B8B-A343-2C56-110E21331A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ABAD28B-DD56-4B56-883A-96608C765E28}" type="datetimeFigureOut">
              <a:rPr lang="en-US" smtClean="0"/>
              <a:pPr/>
              <a:t>10/21/2026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259CCC4-FA9E-2074-3142-5EBA62F91B2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77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736010" cy="2845567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729915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617785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F8C2BF2-38FB-0598-A4BE-DD111229A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438900"/>
            <a:ext cx="1714301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18" name="Date Placeholder 4">
            <a:extLst>
              <a:ext uri="{FF2B5EF4-FFF2-40B4-BE49-F238E27FC236}">
                <a16:creationId xmlns:a16="http://schemas.microsoft.com/office/drawing/2014/main" id="{5A41BBAF-5441-8512-B575-2EB961DD48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9401810-4A83-D1CF-00A6-76F622C71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3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1A7175-8061-E7CC-68E4-2B3CECB6C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90244"/>
            <a:ext cx="10037064" cy="5159257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AD28B-DD56-4B56-883A-96608C765E28}" type="datetimeFigureOut">
              <a:rPr lang="en-US" smtClean="0"/>
              <a:pPr/>
              <a:t>10/21/2026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DF5BAF5-ABAB-4575-8E56-D109A3D17F9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A5A591-C2D3-D6A3-432F-2C1371951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84337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B916BDA-9E36-8180-7EBC-AC2A35C79F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0940" y="1088702"/>
            <a:ext cx="8479072" cy="139555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2AF672E-4752-50B9-9301-C8042FD00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669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/>
            </a:lvl1pPr>
            <a:lvl2pPr marL="685800" indent="-457200">
              <a:lnSpc>
                <a:spcPct val="100000"/>
              </a:lnSpc>
              <a:buFont typeface="+mj-lt"/>
              <a:buAutoNum type="arabicPeriod"/>
              <a:defRPr sz="2000"/>
            </a:lvl2pPr>
            <a:lvl3pPr marL="800100" indent="-342900">
              <a:lnSpc>
                <a:spcPct val="100000"/>
              </a:lnSpc>
              <a:buFont typeface="+mj-lt"/>
              <a:buAutoNum type="arabicPeriod"/>
              <a:defRPr sz="2000"/>
            </a:lvl3pPr>
            <a:lvl4pPr marL="1028700" indent="-342900">
              <a:lnSpc>
                <a:spcPct val="100000"/>
              </a:lnSpc>
              <a:buFont typeface="+mj-lt"/>
              <a:buAutoNum type="arabicPeriod"/>
              <a:defRPr sz="2000"/>
            </a:lvl4pPr>
            <a:lvl5pPr marL="1257300" indent="-342900">
              <a:lnSpc>
                <a:spcPct val="100000"/>
              </a:lnSpc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0B404-9532-4DA8-8A40-EC339A5BE635}" type="datetime1">
              <a:rPr lang="en-US" smtClean="0"/>
              <a:t>10/21/2026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65070F-FB67-7572-2807-986A25537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467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88136"/>
            <a:ext cx="5749392" cy="1554480"/>
          </a:xfrm>
        </p:spPr>
        <p:txBody>
          <a:bodyPr anchor="t" anchorCtr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6" y="2651760"/>
            <a:ext cx="5749392" cy="3694176"/>
          </a:xfrm>
        </p:spPr>
        <p:txBody>
          <a:bodyPr>
            <a:normAutofit/>
          </a:bodyPr>
          <a:lstStyle>
            <a:lvl1pPr marL="342900" indent="-342900">
              <a:lnSpc>
                <a:spcPct val="100000"/>
              </a:lnSpc>
              <a:buFont typeface="System Font Regular"/>
              <a:buChar char="-"/>
              <a:defRPr sz="2000"/>
            </a:lvl1pPr>
            <a:lvl2pPr>
              <a:lnSpc>
                <a:spcPct val="100000"/>
              </a:lnSpc>
              <a:defRPr sz="20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0940" y="6438900"/>
            <a:ext cx="391540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006344" y="6438900"/>
            <a:ext cx="1126120" cy="419100"/>
          </a:xfrm>
        </p:spPr>
        <p:txBody>
          <a:bodyPr/>
          <a:lstStyle/>
          <a:p>
            <a:fld id="{8A60B404-9532-4DA8-8A40-EC339A5BE635}" type="datetime1">
              <a:rPr lang="en-US" smtClean="0"/>
              <a:t>10/21/2026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32464" y="6438900"/>
            <a:ext cx="705064" cy="4191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E4B52E79-E470-1B1A-EADF-94DA7253B32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15200" y="0"/>
            <a:ext cx="48768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C1AE97-7274-F222-2135-C3524958A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331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676" y="1114856"/>
            <a:ext cx="3923455" cy="40835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94612" y="1115290"/>
            <a:ext cx="5809713" cy="517121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54F329-E63B-9F25-4E06-2E98A6453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6620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01" y="1114655"/>
            <a:ext cx="2771326" cy="3675552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34532" y="1129145"/>
            <a:ext cx="7794231" cy="5157355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47F2C9-46DC-B902-E883-CE0360E6D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372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5788" y="1111101"/>
            <a:ext cx="6339412" cy="114300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FB7CB50-241E-E6B6-1C0E-1B5466B147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45065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A1C94DDD-A7D7-1407-F63C-F296AB45422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785787" y="2402887"/>
            <a:ext cx="6339414" cy="3883614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3871FB-7459-8C2E-BA80-AD31AE85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04282-04A3-1CE1-50A4-AF83D0D40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5788" y="6438900"/>
            <a:ext cx="4774902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CA12AEFE-D7DE-804A-807C-704D5B34E13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C293909-C7AB-A707-F48B-6007FE72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257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6991" y="1112104"/>
            <a:ext cx="7321615" cy="9326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189CF27-6D02-DB0D-F5D1-1535F147916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373ED08-D584-FD0F-C5B0-EF4E07A0D8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76075" y="2187258"/>
            <a:ext cx="7349126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906524-8E7E-05A8-4F9E-A2C39750A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56971-28FA-FA33-0A85-0B851EA7A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6076" y="6438900"/>
            <a:ext cx="578461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F04B437D-29C2-D3ED-BEFA-E1F868B0FB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0EB108D-6128-5356-6097-7D1D105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6049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394" y="1112104"/>
            <a:ext cx="7343564" cy="9326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3393" y="2187258"/>
            <a:ext cx="7343565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D039FC6-F740-7D02-FD07-5B1B076DC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66571-786A-B2D2-4FC3-C22E71C2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3394" y="6438900"/>
            <a:ext cx="577905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324A0C0-9CB0-6208-0780-67E3C7F2C02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962654" y="6438900"/>
            <a:ext cx="864704" cy="4191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F7421E2-5EEC-7791-DBEE-600FF517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35522" y="6438900"/>
            <a:ext cx="601436" cy="4191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61964118-5CFA-FFA8-E19F-A107D63DDC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665559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004180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066" y="1115736"/>
            <a:ext cx="4738583" cy="1288169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88192" y="2552124"/>
            <a:ext cx="4738450" cy="3734376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84581EB-7A5A-925D-6E20-5C04A0EAA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84EA123-AEAB-8F33-C22D-31F9F11A9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88066" y="6438900"/>
            <a:ext cx="3174065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A2FCA56-AA13-81B1-1707-7A5D7557B5F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352338" y="6438900"/>
            <a:ext cx="864704" cy="4191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58A8E3-C7AA-9216-35FD-FE8205982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5206" y="6438900"/>
            <a:ext cx="601436" cy="4191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0310932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8396" y="1111101"/>
            <a:ext cx="3813845" cy="1493863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8397" y="2700671"/>
            <a:ext cx="3813846" cy="358583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A796DD-1556-39E2-B5E4-90C1C2459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13B13-BCC2-B853-769C-4BC6A57D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8395" y="6438900"/>
            <a:ext cx="2249335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9915D6C-CE56-12D3-C15C-C56B3EFEA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37937" y="6438900"/>
            <a:ext cx="864704" cy="419100"/>
          </a:xfrm>
        </p:spPr>
        <p:txBody>
          <a:bodyPr/>
          <a:lstStyle/>
          <a:p>
            <a:fld id="{2ABAD28B-DD56-4B56-883A-96608C765E28}" type="datetimeFigureOut">
              <a:rPr lang="en-US" smtClean="0"/>
              <a:pPr/>
              <a:t>10/21/2026</a:t>
            </a:fld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3F576B-887C-7B84-0990-9143EA6C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310805" y="6438900"/>
            <a:ext cx="601436" cy="4191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92232" y="0"/>
            <a:ext cx="699976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6650405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75ACA1F-D859-596B-9F50-F1E9A2654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7894207" y="1112431"/>
            <a:ext cx="3230993" cy="185894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2A43D9F3-C10E-5B48-BB59-16A8600BD3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7481777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2E10F120-2F5B-B2FD-DB40-683E6176C3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901280" y="3133255"/>
            <a:ext cx="3223920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A12B08-97E1-66BD-9B69-377E28512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EACEEC7-E0DC-ABF5-188B-5636A17B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94207" y="6438900"/>
            <a:ext cx="1666482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D0A24C6D-468E-EAE9-2363-772EA5E51DD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C85811-EF51-7552-5F12-17748D280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594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324" y="3987802"/>
            <a:ext cx="3044954" cy="2309785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5935" y="3987802"/>
            <a:ext cx="7460029" cy="2309785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C699AE1-DA01-C4DA-C5BE-8DD9BE13F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41150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F0BC-3C5E-8E58-AFDC-804E1C1C76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6E5C888-EE74-5D59-47AA-40A53F60011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94CA46-7ABA-FF39-20BD-C83B4F6D95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4630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85BA164-9326-7934-95DF-A6AAB3F42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0990"/>
            <a:ext cx="10477320" cy="969264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2286008"/>
            <a:ext cx="6096000" cy="4571992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91745" y="2286008"/>
            <a:ext cx="4876515" cy="400049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0BF8A-7D94-1C82-F661-F1B7A93A43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88C72B-1D4E-3882-C750-7F965F6E7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691744" y="6438900"/>
            <a:ext cx="2959151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14FA71-0863-B2C8-8E42-C0A1F133DC6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6C2E8-E8FC-5DC8-863C-CF7823CD4A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6409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43CE06-05E5-2B64-1E1C-8F81B788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2200"/>
            <a:ext cx="3696859" cy="1505157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9ADE1102-BF4C-FC7C-22F6-B8453DE3B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81100" y="2840181"/>
            <a:ext cx="3606699" cy="344631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6C8ACD7F-7B34-5741-6323-6829CFDA10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13673" y="1122201"/>
            <a:ext cx="6602291" cy="516429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1322A97-1C32-A52E-951B-60B114B30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08359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9AD5248-C0E5-8356-EB8F-904EDDA5F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7304" y="4757193"/>
            <a:ext cx="6477896" cy="1126554"/>
          </a:xfrm>
        </p:spPr>
        <p:txBody>
          <a:bodyPr anchor="b">
            <a:normAutofit/>
          </a:bodyPr>
          <a:lstStyle>
            <a:lvl1pPr algn="r">
              <a:defRPr sz="20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5F5F1C4-3BA4-0163-6A5F-9D95D58C7E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" y="64008"/>
            <a:ext cx="12027408" cy="4600592"/>
          </a:xfrm>
        </p:spPr>
        <p:txBody>
          <a:bodyPr>
            <a:noAutofit/>
          </a:bodyPr>
          <a:lstStyle>
            <a:lvl1pPr>
              <a:lnSpc>
                <a:spcPct val="85000"/>
              </a:lnSpc>
              <a:defRPr sz="3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5AD3D17-73C9-402C-91E7-BA73E6829C50}" type="datetime1">
              <a:rPr lang="en-US" smtClean="0"/>
              <a:pPr/>
              <a:t>10/21/2026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84DB20-94E7-1E79-B65B-67C6158DB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000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7863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286261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88136" y="1039095"/>
            <a:ext cx="9418320" cy="5070068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6000" b="1"/>
            </a:lvl1pPr>
            <a:lvl2pPr marL="228600" indent="0">
              <a:lnSpc>
                <a:spcPct val="90000"/>
              </a:lnSpc>
              <a:buNone/>
              <a:defRPr sz="6000" b="1"/>
            </a:lvl2pPr>
            <a:lvl3pPr marL="457200" indent="0">
              <a:lnSpc>
                <a:spcPct val="90000"/>
              </a:lnSpc>
              <a:buNone/>
              <a:defRPr sz="60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60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F2505C-CAED-34DC-7CD1-C57ADBBF9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9715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9">
            <a:extLst>
              <a:ext uri="{FF2B5EF4-FFF2-40B4-BE49-F238E27FC236}">
                <a16:creationId xmlns:a16="http://schemas.microsoft.com/office/drawing/2014/main" id="{873E5EF9-EDC5-CB2D-000A-85BB4DB582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5418360"/>
            <a:ext cx="10058400" cy="466345"/>
          </a:xfrm>
        </p:spPr>
        <p:txBody>
          <a:bodyPr anchor="b">
            <a:normAutofit/>
          </a:bodyPr>
          <a:lstStyle>
            <a:lvl1pPr algn="r">
              <a:lnSpc>
                <a:spcPct val="100000"/>
              </a:lnSpc>
              <a:defRPr sz="2000" b="0" cap="none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5D1FFC6-C597-BE81-1790-A08954F44C4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250" y="63500"/>
            <a:ext cx="11977688" cy="5080000"/>
          </a:xfrm>
        </p:spPr>
        <p:txBody>
          <a:bodyPr>
            <a:normAutofit/>
          </a:bodyPr>
          <a:lstStyle>
            <a:lvl1pPr>
              <a:lnSpc>
                <a:spcPct val="85000"/>
              </a:lnSpc>
              <a:defRPr sz="8000" b="1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3035D-22A0-4334-A9AE-2457016C8B47}" type="datetime1">
              <a:rPr lang="en-US" smtClean="0"/>
              <a:t>10/21/2026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949BEA-90AC-BE5F-28A7-80D65BD19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2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9789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19132"/>
            <a:ext cx="9890066" cy="120459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20CA7A-449A-6AC2-BFC5-17AF5007E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82555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15329"/>
            <a:ext cx="9949455" cy="8388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A35A86-E7F6-6593-119D-A6DC85581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6969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04100"/>
            <a:ext cx="9922764" cy="1294228"/>
          </a:xfrm>
        </p:spPr>
        <p:txBody>
          <a:bodyPr>
            <a:normAutofit/>
          </a:bodyPr>
          <a:lstStyle>
            <a:lvl1pPr>
              <a:defRPr sz="36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8CF7AFD-0570-B046-A2C2-3EFA8735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420419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5568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5"/>
            <a:ext cx="10627828" cy="2084551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419A5DD2-B3B3-D9BF-1A71-B20742D142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4" y="3276600"/>
            <a:ext cx="10627829" cy="31623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DCA1022-3377-EB7D-8261-EDD841636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7879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8430767" cy="1842020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C06F55DC-E754-4B2B-C0AE-962C82565D0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77213" y="4246692"/>
            <a:ext cx="8430639" cy="16080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C829929-F774-AF4E-F1BE-2DA3C43D0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87556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9359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119745"/>
            <a:ext cx="9922764" cy="41667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88136" y="6438900"/>
            <a:ext cx="8562760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50896" y="6438900"/>
            <a:ext cx="864704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3764" y="6438900"/>
            <a:ext cx="601436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769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  <p:sldLayoutId id="2147483774" r:id="rId18"/>
    <p:sldLayoutId id="2147483775" r:id="rId19"/>
    <p:sldLayoutId id="2147483776" r:id="rId20"/>
    <p:sldLayoutId id="2147483777" r:id="rId21"/>
    <p:sldLayoutId id="2147483778" r:id="rId22"/>
    <p:sldLayoutId id="2147483779" r:id="rId23"/>
    <p:sldLayoutId id="2147483780" r:id="rId24"/>
    <p:sldLayoutId id="2147483781" r:id="rId25"/>
    <p:sldLayoutId id="2147483782" r:id="rId26"/>
    <p:sldLayoutId id="2147483783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744">
          <p15:clr>
            <a:srgbClr val="F26B43"/>
          </p15:clr>
        </p15:guide>
        <p15:guide id="6">
          <p15:clr>
            <a:srgbClr val="F26B43"/>
          </p15:clr>
        </p15:guide>
        <p15:guide id="8" pos="6936">
          <p15:clr>
            <a:srgbClr val="F26B43"/>
          </p15:clr>
        </p15:guide>
        <p15:guide id="10" orient="horz" pos="720">
          <p15:clr>
            <a:srgbClr val="F26B43"/>
          </p15:clr>
        </p15:guide>
        <p15:guide id="14" pos="6624">
          <p15:clr>
            <a:srgbClr val="F26B43"/>
          </p15:clr>
        </p15:guide>
        <p15:guide id="22" orient="horz" pos="360">
          <p15:clr>
            <a:srgbClr val="F26B43"/>
          </p15:clr>
        </p15:guide>
        <p15:guide id="23" orient="horz" pos="3960">
          <p15:clr>
            <a:srgbClr val="F26B43"/>
          </p15:clr>
        </p15:guide>
        <p15:guide id="24" orient="horz" pos="2160">
          <p15:clr>
            <a:srgbClr val="F26B43"/>
          </p15:clr>
        </p15:guide>
        <p15:guide id="25" pos="7680">
          <p15:clr>
            <a:srgbClr val="F26B43"/>
          </p15:clr>
        </p15:guide>
        <p15:guide id="26" pos="3840">
          <p15:clr>
            <a:srgbClr val="F26B43"/>
          </p15:clr>
        </p15:guide>
        <p15:guide id="27" pos="6168">
          <p15:clr>
            <a:srgbClr val="F26B43"/>
          </p15:clr>
        </p15:guide>
        <p15:guide id="28" pos="672">
          <p15:clr>
            <a:srgbClr val="F26B43"/>
          </p15:clr>
        </p15:guide>
        <p15:guide id="29" pos="7008">
          <p15:clr>
            <a:srgbClr val="F26B43"/>
          </p15:clr>
        </p15:guide>
        <p15:guide id="30" orient="horz" pos="4056">
          <p15:clr>
            <a:srgbClr val="F26B43"/>
          </p15:clr>
        </p15:guide>
        <p15:guide id="31" orient="horz" pos="3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582911" y="1261872"/>
            <a:ext cx="402336" cy="402336"/>
          </a:xfrm>
          <a:prstGeom prst="ellipse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97896" y="2002536"/>
            <a:ext cx="292608" cy="292608"/>
          </a:xfrm>
          <a:prstGeom prst="ellipse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44584" y="2706624"/>
            <a:ext cx="256032" cy="256032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90504" y="3483863"/>
            <a:ext cx="438912" cy="438912"/>
          </a:xfrm>
          <a:prstGeom prst="ellipse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765792" y="3913632"/>
            <a:ext cx="310896" cy="310896"/>
          </a:xfrm>
          <a:prstGeom prst="ellipse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851392" y="2084831"/>
            <a:ext cx="219456" cy="219456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9784080" y="1463040"/>
            <a:ext cx="960120" cy="685800"/>
          </a:xfrm>
          <a:prstGeom prst="line">
            <a:avLst/>
          </a:prstGeom>
          <a:ln w="25400">
            <a:solidFill>
              <a:srgbClr val="4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961120" y="1463040"/>
            <a:ext cx="822960" cy="731520"/>
          </a:xfrm>
          <a:prstGeom prst="line">
            <a:avLst/>
          </a:prstGeom>
          <a:ln w="25400">
            <a:solidFill>
              <a:srgbClr val="4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0" y="2194560"/>
            <a:ext cx="411480" cy="640080"/>
          </a:xfrm>
          <a:prstGeom prst="line">
            <a:avLst/>
          </a:prstGeom>
          <a:ln w="25400">
            <a:solidFill>
              <a:srgbClr val="4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72600" y="2834640"/>
            <a:ext cx="548640" cy="1234440"/>
          </a:xfrm>
          <a:prstGeom prst="line">
            <a:avLst/>
          </a:prstGeom>
          <a:ln w="25400">
            <a:solidFill>
              <a:srgbClr val="4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921240" y="3703320"/>
            <a:ext cx="1188720" cy="365760"/>
          </a:xfrm>
          <a:prstGeom prst="line">
            <a:avLst/>
          </a:prstGeom>
          <a:ln w="25400">
            <a:solidFill>
              <a:srgbClr val="4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744200" y="2148840"/>
            <a:ext cx="365760" cy="1554480"/>
          </a:xfrm>
          <a:prstGeom prst="line">
            <a:avLst/>
          </a:prstGeom>
          <a:ln w="25400">
            <a:solidFill>
              <a:srgbClr val="4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8229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47C9BE"/>
                </a:solidFill>
                <a:latin typeface="Aptos"/>
              </a:rPr>
              <a:t>PROJECT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325880"/>
            <a:ext cx="7315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What's In
My Protein?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718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>
                <a:solidFill>
                  <a:srgbClr val="CDDCE3"/>
                </a:solidFill>
                <a:latin typeface="Aptos"/>
              </a:rPr>
              <a:t>A transparent, local-first protein sequence analyzer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406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AABCC9"/>
                </a:solidFill>
                <a:latin typeface="Aptos"/>
              </a:rPr>
              <a:t>Presentation outline  ?  5?7 minutes +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AABCC9"/>
                </a:solidFill>
                <a:latin typeface="Aptos"/>
              </a:rPr>
              <a:t>WHAT'S IN MY PROTEIN?   |   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09360"/>
            <a:ext cx="10881360" cy="13716"/>
          </a:xfrm>
          <a:prstGeom prst="rect">
            <a:avLst/>
          </a:prstGeom>
          <a:solidFill>
            <a:srgbClr val="415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49791"/>
                </a:solidFill>
                <a:latin typeface="Aptos"/>
              </a:rPr>
              <a:t>01  | 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F1F33"/>
                </a:solidFill>
                <a:latin typeface="Aptos"/>
              </a:rPr>
              <a:t>A fast first look at a protein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57584"/>
                </a:solidFill>
                <a:latin typeface="Aptos"/>
              </a:rPr>
              <a:t>Designed for quick, transparent sequence-level observations.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33375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73152" cy="2148840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258568"/>
            <a:ext cx="292607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2926079" cy="15081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0" dirty="0">
                <a:solidFill>
                  <a:srgbClr val="263341"/>
                </a:solidFill>
                <a:latin typeface="Aptos" panose="020B0004020202020204" pitchFamily="34" charset="0"/>
              </a:rPr>
              <a:t>Paste a raw amino-acid sequence or a FASTA record</a:t>
            </a:r>
            <a:r>
              <a:rPr lang="en-US" sz="1400" dirty="0">
                <a:solidFill>
                  <a:srgbClr val="263341"/>
                </a:solidFill>
                <a:latin typeface="Aptos" panose="020B0004020202020204" pitchFamily="34" charset="0"/>
              </a:rPr>
              <a:t>: </a:t>
            </a:r>
            <a:r>
              <a:rPr lang="en-US" sz="1400" dirty="0">
                <a:latin typeface="Aptos" panose="020B0004020202020204" pitchFamily="34" charset="0"/>
              </a:rPr>
              <a:t>standard text-based file format used in bioinformatics to store DNA, RNA, or protein sequences.</a:t>
            </a:r>
            <a:br>
              <a:rPr lang="en-US" sz="1400" b="0" dirty="0">
                <a:solidFill>
                  <a:srgbClr val="263341"/>
                </a:solidFill>
                <a:latin typeface="Aptos" panose="020B0004020202020204" pitchFamily="34" charset="0"/>
              </a:rPr>
            </a:br>
            <a:br>
              <a:rPr lang="en-US" sz="1400" b="0" dirty="0">
                <a:solidFill>
                  <a:srgbClr val="263341"/>
                </a:solidFill>
                <a:latin typeface="Aptos" panose="020B0004020202020204" pitchFamily="34" charset="0"/>
              </a:rPr>
            </a:br>
            <a:r>
              <a:rPr sz="1400" b="0" dirty="0">
                <a:solidFill>
                  <a:srgbClr val="263341"/>
                </a:solidFill>
                <a:latin typeface="Aptos" panose="020B0004020202020204" pitchFamily="34" charset="0"/>
              </a:rPr>
              <a:t>Invalid input stays visible and gets a corrective message.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057400"/>
            <a:ext cx="33375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2057400"/>
            <a:ext cx="73152" cy="2148840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2258568"/>
            <a:ext cx="292607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0F1F33"/>
                </a:solidFill>
                <a:latin typeface="Aptos"/>
              </a:rPr>
              <a:t>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9192"/>
            <a:ext cx="2926079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0" dirty="0">
                <a:solidFill>
                  <a:srgbClr val="263341"/>
                </a:solidFill>
                <a:latin typeface="Aptos"/>
              </a:rPr>
              <a:t>Length, molecular weight, theoretical </a:t>
            </a:r>
            <a:r>
              <a:rPr sz="1400" b="0" dirty="0" err="1">
                <a:solidFill>
                  <a:srgbClr val="263341"/>
                </a:solidFill>
                <a:latin typeface="Aptos"/>
              </a:rPr>
              <a:t>pI</a:t>
            </a:r>
            <a:r>
              <a:rPr lang="en-US" sz="1400" b="0" dirty="0">
                <a:solidFill>
                  <a:srgbClr val="263341"/>
                </a:solidFill>
                <a:latin typeface="Aptos" panose="020B0004020202020204" pitchFamily="34" charset="0"/>
              </a:rPr>
              <a:t>-</a:t>
            </a:r>
            <a:r>
              <a:rPr lang="en-US" sz="1400" dirty="0">
                <a:latin typeface="Aptos" panose="020B0004020202020204" pitchFamily="34" charset="0"/>
              </a:rPr>
              <a:t> the specific pH value at which a protein carries a net electrical charge of zero based on its primary sequence;</a:t>
            </a:r>
            <a:r>
              <a:rPr sz="1400" b="0" dirty="0">
                <a:solidFill>
                  <a:srgbClr val="263341"/>
                </a:solidFill>
                <a:latin typeface="Aptos" panose="020B0004020202020204" pitchFamily="34" charset="0"/>
              </a:rPr>
              <a:t> hydrophobicity, composition, and residue map</a:t>
            </a:r>
            <a:r>
              <a:rPr sz="1400" b="0" dirty="0">
                <a:solidFill>
                  <a:srgbClr val="263341"/>
                </a:solidFill>
                <a:latin typeface="Aptos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2057400"/>
            <a:ext cx="33375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2057400"/>
            <a:ext cx="73152" cy="2148840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2258568"/>
            <a:ext cx="292607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679192"/>
            <a:ext cx="2926079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263341"/>
                </a:solidFill>
                <a:latin typeface="Aptos"/>
              </a:rPr>
              <a:t>Deterministic local calculations make the same input produce the same displayed values.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" y="4800600"/>
            <a:ext cx="1417320" cy="329184"/>
          </a:xfrm>
          <a:prstGeom prst="round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34440" y="486460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0F1F33"/>
                </a:solidFill>
                <a:latin typeface="Aptos"/>
              </a:rPr>
              <a:t>STUDENTS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4800600"/>
            <a:ext cx="1783080" cy="329184"/>
          </a:xfrm>
          <a:prstGeom prst="roundRect">
            <a:avLst/>
          </a:prstGeom>
          <a:solidFill>
            <a:srgbClr val="E1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80360" y="4864608"/>
            <a:ext cx="1783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0F1F33"/>
                </a:solidFill>
                <a:latin typeface="Aptos"/>
              </a:rPr>
              <a:t>RESEARCHERS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4800600"/>
            <a:ext cx="1737360" cy="329184"/>
          </a:xfrm>
          <a:prstGeom prst="roundRect">
            <a:avLst/>
          </a:prstGeom>
          <a:solidFill>
            <a:srgbClr val="FFE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4864608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0F1F33"/>
                </a:solidFill>
                <a:latin typeface="Aptos"/>
              </a:rPr>
              <a:t>TRANSPARENT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4800600"/>
            <a:ext cx="1600200" cy="329184"/>
          </a:xfrm>
          <a:prstGeom prst="roundRect">
            <a:avLst/>
          </a:prstGeom>
          <a:solidFill>
            <a:srgbClr val="DE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0" y="486460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0F1F33"/>
                </a:solidFill>
                <a:latin typeface="Aptos"/>
              </a:rPr>
              <a:t>LOCAL-FIRST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510528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57584"/>
                </a:solidFill>
                <a:latin typeface="Aptos"/>
              </a:rPr>
              <a:t>WHAT'S IN MY PROTEIN?   |   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09360"/>
            <a:ext cx="10881360" cy="13716"/>
          </a:xfrm>
          <a:prstGeom prst="rect">
            <a:avLst/>
          </a:prstGeom>
          <a:solidFill>
            <a:srgbClr val="D6DD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7C9BE"/>
                </a:solidFill>
                <a:latin typeface="Aptos"/>
              </a:rPr>
              <a:t>02  |  THE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From sequence to comparable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"/>
              </a:rPr>
              <a:t>The app keeps the core loop simple: analyze, save, compare, report.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148840"/>
            <a:ext cx="566928" cy="566928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F1F33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Paste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3756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CCDCE3"/>
                </a:solidFill>
                <a:latin typeface="Aptos"/>
              </a:rPr>
              <a:t>Raw sequence or FASTA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89888" y="2432304"/>
            <a:ext cx="1399032" cy="0"/>
          </a:xfrm>
          <a:prstGeom prst="line">
            <a:avLst/>
          </a:prstGeom>
          <a:ln w="25400">
            <a:solidFill>
              <a:srgbClr val="46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971800" y="2148840"/>
            <a:ext cx="566928" cy="566928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30428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F1F33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9260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Analyze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33756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CCDCE3"/>
                </a:solidFill>
                <a:latin typeface="Aptos"/>
              </a:rPr>
              <a:t>Validate and calculate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30168" y="2432304"/>
            <a:ext cx="1399032" cy="0"/>
          </a:xfrm>
          <a:prstGeom prst="line">
            <a:avLst/>
          </a:prstGeom>
          <a:ln w="25400">
            <a:solidFill>
              <a:srgbClr val="46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212080" y="2148840"/>
            <a:ext cx="566928" cy="566928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80" y="230428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F1F3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9260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Save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33756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CCDCE3"/>
                </a:solidFill>
                <a:latin typeface="Aptos"/>
              </a:rPr>
              <a:t>Keep valid sequences locally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70448" y="2432304"/>
            <a:ext cx="1399032" cy="0"/>
          </a:xfrm>
          <a:prstGeom prst="line">
            <a:avLst/>
          </a:prstGeom>
          <a:ln w="25400">
            <a:solidFill>
              <a:srgbClr val="46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452360" y="2148840"/>
            <a:ext cx="566928" cy="566928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52360" y="230428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F1F33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9260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Compare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33756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CCDCE3"/>
                </a:solidFill>
                <a:latin typeface="Aptos"/>
              </a:rPr>
              <a:t>Align saved sequences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110728" y="2432304"/>
            <a:ext cx="1399032" cy="0"/>
          </a:xfrm>
          <a:prstGeom prst="line">
            <a:avLst/>
          </a:prstGeom>
          <a:ln w="25400">
            <a:solidFill>
              <a:srgbClr val="46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692640" y="2148840"/>
            <a:ext cx="566928" cy="566928"/>
          </a:xfrm>
          <a:prstGeom prst="ellipse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92640" y="230428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F1F33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9260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33756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CCDCE3"/>
                </a:solidFill>
                <a:latin typeface="Aptos"/>
              </a:rPr>
              <a:t>Download the current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66360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47C9BE"/>
                </a:solidFill>
                <a:latin typeface="Aptos"/>
              </a:rPr>
              <a:t>Local, repeatable, and inspectable by design.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AABCC9"/>
                </a:solidFill>
                <a:latin typeface="Aptos"/>
              </a:rPr>
              <a:t>WHAT'S IN MY PROTEIN?   |   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309360"/>
            <a:ext cx="10881360" cy="13716"/>
          </a:xfrm>
          <a:prstGeom prst="rect">
            <a:avLst/>
          </a:prstGeom>
          <a:solidFill>
            <a:srgbClr val="415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49791"/>
                </a:solidFill>
                <a:latin typeface="Aptos"/>
              </a:rPr>
              <a:t>03  | 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F1F33"/>
                </a:solidFill>
                <a:latin typeface="Aptos"/>
              </a:rPr>
              <a:t>A reliable demo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57584"/>
                </a:solidFill>
                <a:latin typeface="Aptos"/>
              </a:rPr>
              <a:t>Use this sequence to show the happy path, the guardrails, and the boundary conditions.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11680"/>
            <a:ext cx="393192" cy="393192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9339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1F33"/>
                </a:solidFill>
                <a:latin typeface="Aptos"/>
              </a:rPr>
              <a:t>Default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993392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63341"/>
                </a:solidFill>
                <a:latin typeface="Aptos"/>
              </a:rPr>
              <a:t>Open the app and orient the audience with the initial metrics.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724912"/>
            <a:ext cx="393192" cy="393192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816352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06624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1F33"/>
                </a:solidFill>
                <a:latin typeface="Aptos"/>
              </a:rPr>
              <a:t>Analyze FASTA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2706624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63341"/>
                </a:solidFill>
                <a:latin typeface="Aptos"/>
              </a:rPr>
              <a:t>Paste a FASTA record and select Analyze sequence.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438144"/>
            <a:ext cx="393192" cy="393192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529584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419856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1F33"/>
                </a:solidFill>
                <a:latin typeface="Aptos"/>
              </a:rPr>
              <a:t>Invalid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419856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63341"/>
                </a:solidFill>
                <a:latin typeface="Aptos"/>
              </a:rPr>
              <a:t>Show the preserved input plus the corrective validation message.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151376"/>
            <a:ext cx="393192" cy="393192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242816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13308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1F33"/>
                </a:solidFill>
                <a:latin typeface="Aptos"/>
              </a:rPr>
              <a:t>Compare +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4133088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63341"/>
                </a:solidFill>
                <a:latin typeface="Aptos"/>
              </a:rPr>
              <a:t>Save two valid sequences, open Compare, then download a report.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4864608"/>
            <a:ext cx="393192" cy="393192"/>
          </a:xfrm>
          <a:prstGeom prst="ellipse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956048"/>
            <a:ext cx="39319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84632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1F33"/>
                </a:solidFill>
                <a:latin typeface="Aptos"/>
              </a:rPr>
              <a:t>Unavailable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4846320"/>
            <a:ext cx="7223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63341"/>
                </a:solidFill>
                <a:latin typeface="Aptos"/>
              </a:rPr>
              <a:t>Briefly show provider-dependent features reporting unavailable explicitly.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57584"/>
                </a:solidFill>
                <a:latin typeface="Aptos"/>
              </a:rPr>
              <a:t>WHAT'S IN MY PROTEIN?   |   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309360"/>
            <a:ext cx="10881360" cy="13716"/>
          </a:xfrm>
          <a:prstGeom prst="rect">
            <a:avLst/>
          </a:prstGeom>
          <a:solidFill>
            <a:srgbClr val="D6DD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49791"/>
                </a:solidFill>
                <a:latin typeface="Aptos"/>
              </a:rPr>
              <a:t>04  |  WHAT THE USER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F1F33"/>
                </a:solidFill>
                <a:latin typeface="Aptos"/>
              </a:rPr>
              <a:t>The analysis is rich without pretending to be a lab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57584"/>
                </a:solidFill>
                <a:latin typeface="Aptos"/>
              </a:rPr>
              <a:t>Local calculations are useful observations, not experimental findings.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658368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149791"/>
                </a:solidFill>
                <a:latin typeface="Aptos"/>
              </a:rPr>
              <a:t>ANALYSIS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57584"/>
                </a:solidFill>
                <a:latin typeface="Aptos"/>
              </a:rPr>
              <a:t>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F1F33"/>
                </a:solidFill>
                <a:latin typeface="Aptos"/>
              </a:rPr>
              <a:t>247 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43200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57584"/>
                </a:solidFill>
                <a:latin typeface="Aptos"/>
              </a:rPr>
              <a:t>Molecular weight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971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F1F33"/>
                </a:solidFill>
                <a:latin typeface="Aptos"/>
              </a:rPr>
              <a:t>27.4 kDa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03320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57584"/>
                </a:solidFill>
                <a:latin typeface="Aptos"/>
              </a:rPr>
              <a:t>Theoretical 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319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F1F33"/>
                </a:solidFill>
                <a:latin typeface="Aptos"/>
              </a:rPr>
              <a:t>6.82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703320"/>
            <a:ext cx="2194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57584"/>
                </a:solidFill>
                <a:latin typeface="Aptos"/>
              </a:rPr>
              <a:t>Hydrophobicity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319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0F1F33"/>
                </a:solidFill>
                <a:latin typeface="Aptos"/>
              </a:rPr>
              <a:t>-0.14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0916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49791"/>
                </a:solidFill>
                <a:latin typeface="Aptos"/>
              </a:rPr>
              <a:t>RESIDUE MAP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28016" cy="164592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70432" y="5010912"/>
            <a:ext cx="128016" cy="164592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335024" y="5010912"/>
            <a:ext cx="128016" cy="164592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499616" y="5010912"/>
            <a:ext cx="128016" cy="164592"/>
          </a:xfrm>
          <a:prstGeom prst="rect">
            <a:avLst/>
          </a:prstGeom>
          <a:solidFill>
            <a:srgbClr val="E1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664208" y="5010912"/>
            <a:ext cx="128016" cy="164592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828800" y="5010912"/>
            <a:ext cx="128016" cy="164592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993392" y="5010912"/>
            <a:ext cx="128016" cy="164592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157984" y="5010912"/>
            <a:ext cx="128016" cy="164592"/>
          </a:xfrm>
          <a:prstGeom prst="rect">
            <a:avLst/>
          </a:prstGeom>
          <a:solidFill>
            <a:srgbClr val="E1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322576" y="5010912"/>
            <a:ext cx="128016" cy="164592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7168" y="5010912"/>
            <a:ext cx="128016" cy="164592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651760" y="5010912"/>
            <a:ext cx="128016" cy="164592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816352" y="5010912"/>
            <a:ext cx="128016" cy="164592"/>
          </a:xfrm>
          <a:prstGeom prst="rect">
            <a:avLst/>
          </a:prstGeom>
          <a:solidFill>
            <a:srgbClr val="E1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980944" y="5010912"/>
            <a:ext cx="128016" cy="164592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145536" y="5010912"/>
            <a:ext cx="128016" cy="164592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310128" y="5010912"/>
            <a:ext cx="128016" cy="164592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474720" y="5010912"/>
            <a:ext cx="128016" cy="164592"/>
          </a:xfrm>
          <a:prstGeom prst="rect">
            <a:avLst/>
          </a:prstGeom>
          <a:solidFill>
            <a:srgbClr val="E1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639312" y="5010912"/>
            <a:ext cx="128016" cy="164592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803904" y="5010912"/>
            <a:ext cx="128016" cy="164592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968496" y="5010912"/>
            <a:ext cx="128016" cy="164592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33087" y="5010912"/>
            <a:ext cx="128016" cy="164592"/>
          </a:xfrm>
          <a:prstGeom prst="rect">
            <a:avLst/>
          </a:prstGeom>
          <a:solidFill>
            <a:srgbClr val="E1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297679" y="5010912"/>
            <a:ext cx="128016" cy="164592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462272" y="5010912"/>
            <a:ext cx="128016" cy="164592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626864" y="5010912"/>
            <a:ext cx="128016" cy="164592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791456" y="5010912"/>
            <a:ext cx="128016" cy="164592"/>
          </a:xfrm>
          <a:prstGeom prst="rect">
            <a:avLst/>
          </a:prstGeom>
          <a:solidFill>
            <a:srgbClr val="E1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956048" y="5010912"/>
            <a:ext cx="128016" cy="164592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120640" y="5010912"/>
            <a:ext cx="128016" cy="164592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285231" y="5010912"/>
            <a:ext cx="128016" cy="164592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449823" y="5010912"/>
            <a:ext cx="128016" cy="164592"/>
          </a:xfrm>
          <a:prstGeom prst="rect">
            <a:avLst/>
          </a:prstGeom>
          <a:solidFill>
            <a:srgbClr val="E1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614416" y="5010912"/>
            <a:ext cx="128016" cy="164592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779008" y="5010912"/>
            <a:ext cx="128016" cy="164592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726679" y="1965960"/>
            <a:ext cx="3611880" cy="1234440"/>
          </a:xfrm>
          <a:prstGeom prst="roundRect">
            <a:avLst/>
          </a:prstGeom>
          <a:solidFill>
            <a:srgbClr val="DEF3F0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726679" y="1965960"/>
            <a:ext cx="73152" cy="1234440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55279" y="216712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Composition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2587752"/>
            <a:ext cx="3200400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63341"/>
                </a:solidFill>
                <a:latin typeface="Aptos"/>
              </a:rPr>
              <a:t>Residue counts and percentages make the sequence inspectable.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26679" y="3429000"/>
            <a:ext cx="3611880" cy="1234440"/>
          </a:xfrm>
          <a:prstGeom prst="roundRect">
            <a:avLst/>
          </a:prstGeom>
          <a:solidFill>
            <a:srgbClr val="FFEDD8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726679" y="3429000"/>
            <a:ext cx="73152" cy="1234440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955279" y="363016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Heuristic predictions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79" y="4050791"/>
            <a:ext cx="3200400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63341"/>
                </a:solidFill>
                <a:latin typeface="Aptos"/>
              </a:rPr>
              <a:t>Methods, sources, ranges, and limitations are shown explicitly.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26679" y="4892040"/>
            <a:ext cx="3611880" cy="777240"/>
          </a:xfrm>
          <a:prstGeom prst="roundRect">
            <a:avLst/>
          </a:prstGeom>
          <a:solidFill>
            <a:srgbClr val="E1ECF7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726679" y="4892040"/>
            <a:ext cx="73152" cy="777240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955279" y="5093207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Trust boundary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79" y="5513831"/>
            <a:ext cx="3200400" cy="27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63341"/>
                </a:solidFill>
                <a:latin typeface="Aptos"/>
              </a:rPr>
              <a:t>Useful for orientation; not a replacement for experimental evidence.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510528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57584"/>
                </a:solidFill>
                <a:latin typeface="Aptos"/>
              </a:rPr>
              <a:t>WHAT'S IN MY PROTEIN?   |   05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" y="6309360"/>
            <a:ext cx="10881360" cy="13716"/>
          </a:xfrm>
          <a:prstGeom prst="rect">
            <a:avLst/>
          </a:prstGeom>
          <a:solidFill>
            <a:srgbClr val="D6DD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47C9BE"/>
                </a:solidFill>
                <a:latin typeface="Aptos"/>
              </a:rPr>
              <a:t>05  |  TESTING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The most important result is an honest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"/>
              </a:rPr>
              <a:t>When providers are unavailable, the app says so ? and keeps local metrics usable.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4983480" cy="2423160"/>
          </a:xfrm>
          <a:prstGeom prst="roundRect">
            <a:avLst/>
          </a:prstGeom>
          <a:solidFill>
            <a:srgbClr val="193345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057400"/>
            <a:ext cx="73152" cy="2423160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25856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Local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79192"/>
            <a:ext cx="4572000" cy="1673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05840" y="2651760"/>
            <a:ext cx="4526280" cy="1600200"/>
          </a:xfrm>
          <a:prstGeom prst="rect">
            <a:avLst/>
          </a:prstGeom>
          <a:solidFill>
            <a:srgbClr val="193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47C9BE"/>
                </a:solidFill>
                <a:latin typeface="Aptos"/>
              </a:rPr>
              <a:t>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82112"/>
            <a:ext cx="4434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Validation, metrics, local predictions, saved library, comparison, and reports remain usable.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057400"/>
            <a:ext cx="4983480" cy="2423160"/>
          </a:xfrm>
          <a:prstGeom prst="roundRect">
            <a:avLst/>
          </a:prstGeom>
          <a:solidFill>
            <a:srgbClr val="193345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0" y="2057400"/>
            <a:ext cx="73152" cy="2423160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225856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Provider-dependent paths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679192"/>
            <a:ext cx="4572000" cy="1673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629400" y="2651760"/>
            <a:ext cx="4526280" cy="1600200"/>
          </a:xfrm>
          <a:prstGeom prst="rect">
            <a:avLst/>
          </a:prstGeom>
          <a:solidFill>
            <a:srgbClr val="1933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274320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2994A"/>
                </a:solidFill>
                <a:latin typeface="Aptos"/>
              </a:rPr>
              <a:t>EXPLICITLY UNAVAILABLE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82112"/>
            <a:ext cx="4434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Provider failures are visible instead of being presented as valid biological findings.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47C9BE"/>
                </a:solidFill>
                <a:latin typeface="Aptos"/>
              </a:rPr>
              <a:t>Testing takeaway: graceful degradation protects user trust.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AABCC9"/>
                </a:solidFill>
                <a:latin typeface="Aptos"/>
              </a:rPr>
              <a:t>WHAT'S IN MY PROTEIN?   |   06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09360"/>
            <a:ext cx="10881360" cy="13716"/>
          </a:xfrm>
          <a:prstGeom prst="rect">
            <a:avLst/>
          </a:prstGeom>
          <a:solidFill>
            <a:srgbClr val="4153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49791"/>
                </a:solidFill>
                <a:latin typeface="Aptos"/>
              </a:rPr>
              <a:t>06  |  GAP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F1F33"/>
                </a:solidFill>
                <a:latin typeface="Aptos"/>
              </a:rPr>
              <a:t>What is complete, partial, and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57584"/>
                </a:solidFill>
                <a:latin typeface="Aptos"/>
              </a:rPr>
              <a:t>The submission story is strongest when the current baseline and remaining work are both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3383280" cy="3108960"/>
          </a:xfrm>
          <a:prstGeom prst="roundRect">
            <a:avLst/>
          </a:prstGeom>
          <a:solidFill>
            <a:srgbClr val="DEF3F0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73152" cy="3108960"/>
          </a:xfrm>
          <a:prstGeom prst="rect">
            <a:avLst/>
          </a:prstGeom>
          <a:solidFill>
            <a:srgbClr val="149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Current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2971800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500" b="0" dirty="0">
                <a:solidFill>
                  <a:srgbClr val="263341"/>
                </a:solidFill>
                <a:latin typeface="Aptos"/>
              </a:rPr>
              <a:t>-</a:t>
            </a:r>
            <a:r>
              <a:rPr sz="1500" b="0" dirty="0">
                <a:solidFill>
                  <a:srgbClr val="263341"/>
                </a:solidFill>
                <a:latin typeface="Aptos"/>
              </a:rPr>
              <a:t>Local analysis
</a:t>
            </a:r>
            <a:r>
              <a:rPr lang="en-US" sz="1500" b="0" dirty="0">
                <a:solidFill>
                  <a:srgbClr val="263341"/>
                </a:solidFill>
                <a:latin typeface="Aptos"/>
              </a:rPr>
              <a:t>-</a:t>
            </a:r>
            <a:r>
              <a:rPr sz="1500" b="0" dirty="0">
                <a:solidFill>
                  <a:srgbClr val="263341"/>
                </a:solidFill>
                <a:latin typeface="Aptos"/>
              </a:rPr>
              <a:t>Validation
</a:t>
            </a:r>
            <a:r>
              <a:rPr lang="en-US" sz="1500" b="0" dirty="0">
                <a:solidFill>
                  <a:srgbClr val="263341"/>
                </a:solidFill>
                <a:latin typeface="Aptos"/>
              </a:rPr>
              <a:t>-</a:t>
            </a:r>
            <a:r>
              <a:rPr sz="1500" b="0" dirty="0">
                <a:solidFill>
                  <a:srgbClr val="263341"/>
                </a:solidFill>
                <a:latin typeface="Aptos"/>
              </a:rPr>
              <a:t>Saved library
</a:t>
            </a:r>
            <a:r>
              <a:rPr lang="en-US" sz="1500" b="0" dirty="0">
                <a:solidFill>
                  <a:srgbClr val="263341"/>
                </a:solidFill>
                <a:latin typeface="Aptos"/>
              </a:rPr>
              <a:t>-</a:t>
            </a:r>
            <a:r>
              <a:rPr sz="1500" b="0" dirty="0">
                <a:solidFill>
                  <a:srgbClr val="263341"/>
                </a:solidFill>
                <a:latin typeface="Aptos"/>
              </a:rPr>
              <a:t>Comparison
</a:t>
            </a:r>
            <a:r>
              <a:rPr lang="en-US" sz="1500" b="0" dirty="0">
                <a:solidFill>
                  <a:srgbClr val="263341"/>
                </a:solidFill>
                <a:latin typeface="Aptos"/>
              </a:rPr>
              <a:t>-</a:t>
            </a:r>
            <a:r>
              <a:rPr sz="1500" b="0" dirty="0">
                <a:solidFill>
                  <a:srgbClr val="263341"/>
                </a:solidFill>
                <a:latin typeface="Aptos"/>
              </a:rPr>
              <a:t>Reports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011680"/>
            <a:ext cx="3383280" cy="3108960"/>
          </a:xfrm>
          <a:prstGeom prst="roundRect">
            <a:avLst/>
          </a:prstGeom>
          <a:solidFill>
            <a:srgbClr val="FFEDD8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73152" cy="3108960"/>
          </a:xfrm>
          <a:prstGeom prst="rect">
            <a:avLst/>
          </a:prstGeom>
          <a:solidFill>
            <a:srgbClr val="F29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2212848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Partial areas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33472"/>
            <a:ext cx="2971800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500" b="0" dirty="0">
                <a:solidFill>
                  <a:srgbClr val="263341"/>
                </a:solidFill>
                <a:latin typeface="Aptos"/>
              </a:rPr>
              <a:t>-</a:t>
            </a:r>
            <a:r>
              <a:rPr sz="1500" b="0" dirty="0">
                <a:solidFill>
                  <a:srgbClr val="263341"/>
                </a:solidFill>
                <a:latin typeface="Aptos"/>
              </a:rPr>
              <a:t>Prediction providers
</a:t>
            </a:r>
            <a:r>
              <a:rPr lang="en-US" sz="1500" b="0" dirty="0">
                <a:solidFill>
                  <a:srgbClr val="263341"/>
                </a:solidFill>
                <a:latin typeface="Aptos"/>
              </a:rPr>
              <a:t>-</a:t>
            </a:r>
            <a:r>
              <a:rPr sz="1500" b="0" dirty="0">
                <a:solidFill>
                  <a:srgbClr val="263341"/>
                </a:solidFill>
                <a:latin typeface="Aptos"/>
              </a:rPr>
              <a:t>External search providers
These paths are intentionally explicit when not configured.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011680"/>
            <a:ext cx="3383280" cy="3108960"/>
          </a:xfrm>
          <a:prstGeom prst="roundRect">
            <a:avLst/>
          </a:prstGeom>
          <a:solidFill>
            <a:srgbClr val="E1ECF7"/>
          </a:solidFill>
          <a:ln>
            <a:solidFill>
              <a:srgbClr val="DE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2440" y="2011680"/>
            <a:ext cx="73152" cy="3108960"/>
          </a:xfrm>
          <a:prstGeom prst="rect">
            <a:avLst/>
          </a:prstGeom>
          <a:solidFill>
            <a:srgbClr val="47C9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212848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F1F33"/>
                </a:solidFill>
                <a:latin typeface="Aptos"/>
              </a:rPr>
              <a:t>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33472"/>
            <a:ext cx="2971800" cy="2359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263341"/>
                </a:solidFill>
                <a:latin typeface="Aptos"/>
              </a:rPr>
              <a:t>Immediate: participant evidence, independent AI review, browser acceptance checks.
Longer term: configure providers and add browser automation.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57584"/>
                </a:solidFill>
                <a:latin typeface="Aptos"/>
              </a:rPr>
              <a:t>WHAT'S IN MY PROTEIN?   |   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09360"/>
            <a:ext cx="10881360" cy="13716"/>
          </a:xfrm>
          <a:prstGeom prst="rect">
            <a:avLst/>
          </a:prstGeom>
          <a:solidFill>
            <a:srgbClr val="D6DD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jorn">
  <a:themeElements>
    <a:clrScheme name="Bjorn">
      <a:dk1>
        <a:srgbClr val="000000"/>
      </a:dk1>
      <a:lt1>
        <a:srgbClr val="FFFFFF"/>
      </a:lt1>
      <a:dk2>
        <a:srgbClr val="003474"/>
      </a:dk2>
      <a:lt2>
        <a:srgbClr val="EFE6EB"/>
      </a:lt2>
      <a:accent1>
        <a:srgbClr val="28AE70"/>
      </a:accent1>
      <a:accent2>
        <a:srgbClr val="AC9E0C"/>
      </a:accent2>
      <a:accent3>
        <a:srgbClr val="EF3475"/>
      </a:accent3>
      <a:accent4>
        <a:srgbClr val="8961F3"/>
      </a:accent4>
      <a:accent5>
        <a:srgbClr val="11ADD3"/>
      </a:accent5>
      <a:accent6>
        <a:srgbClr val="E78813"/>
      </a:accent6>
      <a:hlink>
        <a:srgbClr val="CD45C3"/>
      </a:hlink>
      <a:folHlink>
        <a:srgbClr val="E34E4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" id="{121AC9A9-9DF1-410F-980B-228D05632962}" vid="{661A2AC3-DE07-4883-A618-4B52B678F5E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16</TotalTime>
  <Words>591</Words>
  <Application>Microsoft Office PowerPoint</Application>
  <PresentationFormat>Widescreen</PresentationFormat>
  <Paragraphs>99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Neue Haas Grotesk Text Pro</vt:lpstr>
      <vt:lpstr>System Font Regular</vt:lpstr>
      <vt:lpstr>Bjorn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My Protein?</dc:title>
  <dc:subject>Project 1 presentation</dc:subject>
  <dc:creator>Protein Sequence Analyzer project</dc:creator>
  <cp:keywords/>
  <dc:description>Generated from PRESENTATION.md</dc:description>
  <cp:lastModifiedBy>Patti Crosswait</cp:lastModifiedBy>
  <cp:revision>5</cp:revision>
  <dcterms:created xsi:type="dcterms:W3CDTF">2013-01-27T09:14:16Z</dcterms:created>
  <dcterms:modified xsi:type="dcterms:W3CDTF">2026-10-21T23:07:50Z</dcterms:modified>
  <cp:category/>
</cp:coreProperties>
</file>