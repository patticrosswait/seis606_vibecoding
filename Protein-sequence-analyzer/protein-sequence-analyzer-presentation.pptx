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8264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455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7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3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433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679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33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62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372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5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04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00418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310932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65040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59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63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40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8359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863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1971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789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2555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6969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2041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568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787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755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6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  <p:sldLayoutId id="2147483777" r:id="rId21"/>
    <p:sldLayoutId id="2147483778" r:id="rId22"/>
    <p:sldLayoutId id="2147483779" r:id="rId23"/>
    <p:sldLayoutId id="2147483780" r:id="rId24"/>
    <p:sldLayoutId id="2147483781" r:id="rId25"/>
    <p:sldLayoutId id="2147483782" r:id="rId26"/>
    <p:sldLayoutId id="214748378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82911" y="1261872"/>
            <a:ext cx="402336" cy="402336"/>
          </a:xfrm>
          <a:prstGeom prst="ellipse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97896" y="2002536"/>
            <a:ext cx="292608" cy="292608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44584" y="2706624"/>
            <a:ext cx="256032" cy="256032"/>
          </a:xfrm>
          <a:prstGeom prst="ellipse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890504" y="3483863"/>
            <a:ext cx="438912" cy="438912"/>
          </a:xfrm>
          <a:prstGeom prst="ellipse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65792" y="3913632"/>
            <a:ext cx="310896" cy="310896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51392" y="2084831"/>
            <a:ext cx="219456" cy="219456"/>
          </a:xfrm>
          <a:prstGeom prst="ellipse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784080" y="1463040"/>
            <a:ext cx="960120" cy="685800"/>
          </a:xfrm>
          <a:prstGeom prst="line">
            <a:avLst/>
          </a:prstGeom>
          <a:ln w="25400">
            <a:solidFill>
              <a:srgbClr val="4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961120" y="1463040"/>
            <a:ext cx="822960" cy="731520"/>
          </a:xfrm>
          <a:prstGeom prst="line">
            <a:avLst/>
          </a:prstGeom>
          <a:ln w="25400">
            <a:solidFill>
              <a:srgbClr val="4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61120" y="2194560"/>
            <a:ext cx="411480" cy="640080"/>
          </a:xfrm>
          <a:prstGeom prst="line">
            <a:avLst/>
          </a:prstGeom>
          <a:ln w="25400">
            <a:solidFill>
              <a:srgbClr val="4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72600" y="2834640"/>
            <a:ext cx="548640" cy="1234440"/>
          </a:xfrm>
          <a:prstGeom prst="line">
            <a:avLst/>
          </a:prstGeom>
          <a:ln w="25400">
            <a:solidFill>
              <a:srgbClr val="4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921240" y="3703320"/>
            <a:ext cx="1188720" cy="365760"/>
          </a:xfrm>
          <a:prstGeom prst="line">
            <a:avLst/>
          </a:prstGeom>
          <a:ln w="25400">
            <a:solidFill>
              <a:srgbClr val="4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744200" y="2148840"/>
            <a:ext cx="365760" cy="1554480"/>
          </a:xfrm>
          <a:prstGeom prst="line">
            <a:avLst/>
          </a:prstGeom>
          <a:ln w="25400">
            <a:solidFill>
              <a:srgbClr val="4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47C9BE"/>
                </a:solidFill>
                <a:latin typeface="Aptos"/>
              </a:rPr>
              <a:t>PROJECT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32588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What's In
My Protein?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71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CDDCE3"/>
                </a:solidFill>
                <a:latin typeface="Aptos"/>
              </a:rPr>
              <a:t>A transparent, local-first protein sequence analyzer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5486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AABCC9"/>
                </a:solidFill>
                <a:latin typeface="Aptos"/>
              </a:rPr>
              <a:t>Presentation </a:t>
            </a:r>
            <a:r>
              <a:rPr sz="1300" b="0">
                <a:solidFill>
                  <a:srgbClr val="AABCC9"/>
                </a:solidFill>
                <a:latin typeface="Aptos"/>
              </a:rPr>
              <a:t>outline 5</a:t>
            </a:r>
            <a:r>
              <a:rPr lang="en-US" sz="1300">
                <a:solidFill>
                  <a:srgbClr val="AABCC9"/>
                </a:solidFill>
                <a:latin typeface="Aptos"/>
              </a:rPr>
              <a:t>-</a:t>
            </a:r>
            <a:r>
              <a:rPr sz="1300" b="0">
                <a:solidFill>
                  <a:srgbClr val="AABCC9"/>
                </a:solidFill>
                <a:latin typeface="Aptos"/>
              </a:rPr>
              <a:t>7 </a:t>
            </a:r>
            <a:r>
              <a:rPr sz="1300" b="0" dirty="0">
                <a:solidFill>
                  <a:srgbClr val="AABCC9"/>
                </a:solidFill>
                <a:latin typeface="Aptos"/>
              </a:rPr>
              <a:t>minutes +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ABCC9"/>
                </a:solidFill>
                <a:latin typeface="Aptos"/>
              </a:rPr>
              <a:t>WHAT'S IN MY PROTEIN?   |  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415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9791"/>
                </a:solidFill>
                <a:latin typeface="Aptos"/>
              </a:rPr>
              <a:t>01  | 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F33"/>
                </a:solidFill>
                <a:latin typeface="Aptos"/>
              </a:rPr>
              <a:t>A fast first look at a protein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57584"/>
                </a:solidFill>
                <a:latin typeface="Aptos"/>
              </a:rPr>
              <a:t>Designed for quick, transparent sequence-level observations.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73152" cy="2148840"/>
          </a:xfrm>
          <a:prstGeom prst="rect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2926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9192"/>
            <a:ext cx="2926079" cy="150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dirty="0">
                <a:solidFill>
                  <a:srgbClr val="263341"/>
                </a:solidFill>
                <a:latin typeface="Aptos" panose="020B0004020202020204" pitchFamily="34" charset="0"/>
              </a:rPr>
              <a:t>Paste a raw amino-acid sequence or a FASTA record</a:t>
            </a:r>
            <a:r>
              <a:rPr lang="en-US" sz="1400" dirty="0">
                <a:solidFill>
                  <a:srgbClr val="263341"/>
                </a:solidFill>
                <a:latin typeface="Aptos" panose="020B0004020202020204" pitchFamily="34" charset="0"/>
              </a:rPr>
              <a:t>: </a:t>
            </a:r>
            <a:r>
              <a:rPr lang="en-US" sz="1400" dirty="0">
                <a:latin typeface="Aptos" panose="020B0004020202020204" pitchFamily="34" charset="0"/>
              </a:rPr>
              <a:t>standard text-based file format used in bioinformatics to store DNA, RNA, or protein sequences.</a:t>
            </a:r>
            <a:br>
              <a:rPr lang="en-US" sz="1400" b="0" dirty="0">
                <a:solidFill>
                  <a:srgbClr val="263341"/>
                </a:solidFill>
                <a:latin typeface="Aptos" panose="020B0004020202020204" pitchFamily="34" charset="0"/>
              </a:rPr>
            </a:br>
            <a:br>
              <a:rPr lang="en-US" sz="1400" b="0" dirty="0">
                <a:solidFill>
                  <a:srgbClr val="263341"/>
                </a:solidFill>
                <a:latin typeface="Aptos" panose="020B0004020202020204" pitchFamily="34" charset="0"/>
              </a:rPr>
            </a:br>
            <a:r>
              <a:rPr sz="1400" b="0" dirty="0">
                <a:solidFill>
                  <a:srgbClr val="263341"/>
                </a:solidFill>
                <a:latin typeface="Aptos" panose="020B0004020202020204" pitchFamily="34" charset="0"/>
              </a:rPr>
              <a:t>Invalid input stays visible and gets a corrective message.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2057400"/>
            <a:ext cx="73152" cy="214884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258568"/>
            <a:ext cx="2926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0F1F33"/>
                </a:solidFill>
                <a:latin typeface="Aptos"/>
              </a:rP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79192"/>
            <a:ext cx="2926079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dirty="0">
                <a:solidFill>
                  <a:srgbClr val="263341"/>
                </a:solidFill>
                <a:latin typeface="Aptos"/>
              </a:rPr>
              <a:t>Length, molecular weight, theoretical </a:t>
            </a:r>
            <a:r>
              <a:rPr sz="1400" b="0" dirty="0" err="1">
                <a:solidFill>
                  <a:srgbClr val="263341"/>
                </a:solidFill>
                <a:latin typeface="Aptos"/>
              </a:rPr>
              <a:t>pI</a:t>
            </a:r>
            <a:r>
              <a:rPr lang="en-US" sz="1400" b="0" dirty="0">
                <a:solidFill>
                  <a:srgbClr val="263341"/>
                </a:solidFill>
                <a:latin typeface="Aptos" panose="020B0004020202020204" pitchFamily="34" charset="0"/>
              </a:rPr>
              <a:t>-</a:t>
            </a:r>
            <a:r>
              <a:rPr lang="en-US" sz="1400" dirty="0">
                <a:latin typeface="Aptos" panose="020B0004020202020204" pitchFamily="34" charset="0"/>
              </a:rPr>
              <a:t> the specific pH value at which a protein carries a net electrical charge of zero based on its primary sequence;</a:t>
            </a:r>
            <a:r>
              <a:rPr sz="1400" b="0" dirty="0">
                <a:solidFill>
                  <a:srgbClr val="263341"/>
                </a:solidFill>
                <a:latin typeface="Aptos" panose="020B0004020202020204" pitchFamily="34" charset="0"/>
              </a:rPr>
              <a:t> hydrophobicity, composition, and residue map</a:t>
            </a:r>
            <a:r>
              <a:rPr sz="1400" b="0" dirty="0">
                <a:solidFill>
                  <a:srgbClr val="263341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05740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2057400"/>
            <a:ext cx="73152" cy="2148840"/>
          </a:xfrm>
          <a:prstGeom prst="rect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258568"/>
            <a:ext cx="2926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Aptos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79192"/>
            <a:ext cx="2926079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263341"/>
                </a:solidFill>
                <a:latin typeface="Aptos"/>
              </a:rPr>
              <a:t>Deterministic local calculations make the same input produce the same displayed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4800600"/>
            <a:ext cx="1417320" cy="329184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48646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F1F33"/>
                </a:solidFill>
                <a:latin typeface="Aptos"/>
              </a:rPr>
              <a:t>STUDENTS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4800600"/>
            <a:ext cx="1783080" cy="329184"/>
          </a:xfrm>
          <a:prstGeom prst="round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80360" y="4864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F1F33"/>
                </a:solidFill>
                <a:latin typeface="Aptos"/>
              </a:rPr>
              <a:t>RESEARCHERS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4800600"/>
            <a:ext cx="1737360" cy="329184"/>
          </a:xfrm>
          <a:prstGeom prst="roundRect">
            <a:avLst/>
          </a:prstGeom>
          <a:solidFill>
            <a:srgbClr val="FFE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486460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F1F33"/>
                </a:solidFill>
                <a:latin typeface="Aptos"/>
              </a:rPr>
              <a:t>TRANSPARENT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800600"/>
            <a:ext cx="1600200" cy="329184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4864608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F1F33"/>
                </a:solidFill>
                <a:latin typeface="Aptos"/>
              </a:rPr>
              <a:t>LOCAL-FIRST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57584"/>
                </a:solidFill>
                <a:latin typeface="Aptos"/>
              </a:rPr>
              <a:t>WHAT'S IN MY PROTEIN?   |   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7C9BE"/>
                </a:solidFill>
                <a:latin typeface="Aptos"/>
              </a:rPr>
              <a:t>02  | 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From sequence to comparable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The app keeps the core loop simple: analyze, save, compare, report.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48840"/>
            <a:ext cx="566928" cy="566928"/>
          </a:xfrm>
          <a:prstGeom prst="ellipse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F1F3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CDCE3"/>
                </a:solidFill>
                <a:latin typeface="Aptos"/>
              </a:rPr>
              <a:t>Raw sequence or FASTA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89888" y="2432304"/>
            <a:ext cx="1399032" cy="0"/>
          </a:xfrm>
          <a:prstGeom prst="line">
            <a:avLst/>
          </a:prstGeom>
          <a:ln w="25400">
            <a:solidFill>
              <a:srgbClr val="46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971800" y="2148840"/>
            <a:ext cx="566928" cy="566928"/>
          </a:xfrm>
          <a:prstGeom prst="ellipse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230428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F1F3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926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3375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CDCE3"/>
                </a:solidFill>
                <a:latin typeface="Aptos"/>
              </a:rPr>
              <a:t>Validate and calculate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30168" y="2432304"/>
            <a:ext cx="1399032" cy="0"/>
          </a:xfrm>
          <a:prstGeom prst="line">
            <a:avLst/>
          </a:prstGeom>
          <a:ln w="25400">
            <a:solidFill>
              <a:srgbClr val="46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212080" y="2148840"/>
            <a:ext cx="566928" cy="566928"/>
          </a:xfrm>
          <a:prstGeom prst="ellipse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0" y="230428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F1F3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926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3375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CDCE3"/>
                </a:solidFill>
                <a:latin typeface="Aptos"/>
              </a:rPr>
              <a:t>Keep valid sequences locally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70448" y="2432304"/>
            <a:ext cx="1399032" cy="0"/>
          </a:xfrm>
          <a:prstGeom prst="line">
            <a:avLst/>
          </a:prstGeom>
          <a:ln w="25400">
            <a:solidFill>
              <a:srgbClr val="46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52360" y="2148840"/>
            <a:ext cx="566928" cy="566928"/>
          </a:xfrm>
          <a:prstGeom prst="ellipse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230428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F1F33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926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3375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CDCE3"/>
                </a:solidFill>
                <a:latin typeface="Aptos"/>
              </a:rPr>
              <a:t>Align saved sequences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10728" y="2432304"/>
            <a:ext cx="1399032" cy="0"/>
          </a:xfrm>
          <a:prstGeom prst="line">
            <a:avLst/>
          </a:prstGeom>
          <a:ln w="25400">
            <a:solidFill>
              <a:srgbClr val="46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92640" y="2148840"/>
            <a:ext cx="566928" cy="566928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2640" y="230428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F1F33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926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3375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CDCE3"/>
                </a:solidFill>
                <a:latin typeface="Aptos"/>
              </a:rPr>
              <a:t>Download the current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6636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47C9BE"/>
                </a:solidFill>
                <a:latin typeface="Aptos"/>
              </a:rPr>
              <a:t>Local, repeatable, and inspectable by design.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ABCC9"/>
                </a:solidFill>
                <a:latin typeface="Aptos"/>
              </a:rPr>
              <a:t>WHAT'S IN MY PROTEIN?   |   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415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9791"/>
                </a:solidFill>
                <a:latin typeface="Aptos"/>
              </a:rPr>
              <a:t>03  |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F33"/>
                </a:solidFill>
                <a:latin typeface="Aptos"/>
              </a:rPr>
              <a:t>A reliable demo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57584"/>
                </a:solidFill>
                <a:latin typeface="Aptos"/>
              </a:rPr>
              <a:t>Use this sequence to show the happy path, the guardrails, and the boundary conditions.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11680"/>
            <a:ext cx="393192" cy="393192"/>
          </a:xfrm>
          <a:prstGeom prst="ellipse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9339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3"/>
                </a:solidFill>
                <a:latin typeface="Aptos"/>
              </a:rPr>
              <a:t>Default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993392"/>
            <a:ext cx="7223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63341"/>
                </a:solidFill>
                <a:latin typeface="Aptos"/>
              </a:rPr>
              <a:t>Open the app and orient the audience with the initial metrics.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24912"/>
            <a:ext cx="393192" cy="393192"/>
          </a:xfrm>
          <a:prstGeom prst="ellipse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816352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06624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3"/>
                </a:solidFill>
                <a:latin typeface="Aptos"/>
              </a:rPr>
              <a:t>Analyze FASTA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706624"/>
            <a:ext cx="7223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63341"/>
                </a:solidFill>
                <a:latin typeface="Aptos"/>
              </a:rPr>
              <a:t>Paste a FASTA record and select Analyze sequence.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38144"/>
            <a:ext cx="393192" cy="393192"/>
          </a:xfrm>
          <a:prstGeom prst="ellipse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29584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19856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3"/>
                </a:solidFill>
                <a:latin typeface="Aptos"/>
              </a:rPr>
              <a:t>Invalid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419856"/>
            <a:ext cx="7223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63341"/>
                </a:solidFill>
                <a:latin typeface="Aptos"/>
              </a:rPr>
              <a:t>Show the preserved input plus the corrective validation message.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151376"/>
            <a:ext cx="393192" cy="393192"/>
          </a:xfrm>
          <a:prstGeom prst="ellipse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242816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33088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3"/>
                </a:solidFill>
                <a:latin typeface="Aptos"/>
              </a:rPr>
              <a:t>Compare +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133088"/>
            <a:ext cx="7223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63341"/>
                </a:solidFill>
                <a:latin typeface="Aptos"/>
              </a:rPr>
              <a:t>Save two valid sequences, open Compare, then download a report.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864608"/>
            <a:ext cx="393192" cy="393192"/>
          </a:xfrm>
          <a:prstGeom prst="ellipse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956048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4632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1F33"/>
                </a:solidFill>
                <a:latin typeface="Aptos"/>
              </a:rPr>
              <a:t>Unavailable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846320"/>
            <a:ext cx="7223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63341"/>
                </a:solidFill>
                <a:latin typeface="Aptos"/>
              </a:rPr>
              <a:t>Briefly show provider-dependent features reporting unavailable explicitly.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57584"/>
                </a:solidFill>
                <a:latin typeface="Aptos"/>
              </a:rPr>
              <a:t>WHAT'S IN MY PROTEIN?   |   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9791"/>
                </a:solidFill>
                <a:latin typeface="Aptos"/>
              </a:rPr>
              <a:t>04  |  WHAT THE USER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F33"/>
                </a:solidFill>
                <a:latin typeface="Aptos"/>
              </a:rPr>
              <a:t>The analysis is rich without pretending to be a lab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57584"/>
                </a:solidFill>
                <a:latin typeface="Aptos"/>
              </a:rPr>
              <a:t>Local calculations are useful observations, not experimental findings.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65836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49791"/>
                </a:solidFill>
                <a:latin typeface="Aptos"/>
              </a:rPr>
              <a:t>ANALYSIS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7584"/>
                </a:solidFill>
                <a:latin typeface="Aptos"/>
              </a:rPr>
              <a:t>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1F33"/>
                </a:solidFill>
                <a:latin typeface="Aptos"/>
              </a:rPr>
              <a:t>247 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432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7584"/>
                </a:solidFill>
                <a:latin typeface="Aptos"/>
              </a:rPr>
              <a:t>Molecular weight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71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1F33"/>
                </a:solidFill>
                <a:latin typeface="Aptos"/>
              </a:rPr>
              <a:t>27.4 kDa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7584"/>
                </a:solidFill>
                <a:latin typeface="Aptos"/>
              </a:rPr>
              <a:t>Theoretical 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1F33"/>
                </a:solidFill>
                <a:latin typeface="Aptos"/>
              </a:rPr>
              <a:t>6.82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7033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57584"/>
                </a:solidFill>
                <a:latin typeface="Aptos"/>
              </a:rPr>
              <a:t>Hydrophobicity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9319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1F33"/>
                </a:solidFill>
                <a:latin typeface="Aptos"/>
              </a:rPr>
              <a:t>-0.14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9791"/>
                </a:solidFill>
                <a:latin typeface="Aptos"/>
              </a:rPr>
              <a:t>RESIDUE 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5010912"/>
            <a:ext cx="128016" cy="164592"/>
          </a:xfrm>
          <a:prstGeom prst="rect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70432" y="5010912"/>
            <a:ext cx="128016" cy="164592"/>
          </a:xfrm>
          <a:prstGeom prst="rect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35024" y="5010912"/>
            <a:ext cx="128016" cy="164592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499616" y="5010912"/>
            <a:ext cx="128016" cy="164592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64208" y="5010912"/>
            <a:ext cx="128016" cy="164592"/>
          </a:xfrm>
          <a:prstGeom prst="rect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28800" y="5010912"/>
            <a:ext cx="128016" cy="164592"/>
          </a:xfrm>
          <a:prstGeom prst="rect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993392" y="5010912"/>
            <a:ext cx="128016" cy="164592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157984" y="5010912"/>
            <a:ext cx="128016" cy="164592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22576" y="5010912"/>
            <a:ext cx="128016" cy="164592"/>
          </a:xfrm>
          <a:prstGeom prst="rect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87168" y="5010912"/>
            <a:ext cx="128016" cy="164592"/>
          </a:xfrm>
          <a:prstGeom prst="rect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51760" y="5010912"/>
            <a:ext cx="128016" cy="164592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16352" y="5010912"/>
            <a:ext cx="128016" cy="164592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980944" y="5010912"/>
            <a:ext cx="128016" cy="164592"/>
          </a:xfrm>
          <a:prstGeom prst="rect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145536" y="5010912"/>
            <a:ext cx="128016" cy="164592"/>
          </a:xfrm>
          <a:prstGeom prst="rect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10128" y="5010912"/>
            <a:ext cx="128016" cy="164592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74720" y="5010912"/>
            <a:ext cx="128016" cy="164592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39312" y="5010912"/>
            <a:ext cx="128016" cy="164592"/>
          </a:xfrm>
          <a:prstGeom prst="rect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803904" y="5010912"/>
            <a:ext cx="128016" cy="164592"/>
          </a:xfrm>
          <a:prstGeom prst="rect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968496" y="5010912"/>
            <a:ext cx="128016" cy="164592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33087" y="5010912"/>
            <a:ext cx="128016" cy="164592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97679" y="5010912"/>
            <a:ext cx="128016" cy="164592"/>
          </a:xfrm>
          <a:prstGeom prst="rect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62272" y="5010912"/>
            <a:ext cx="128016" cy="164592"/>
          </a:xfrm>
          <a:prstGeom prst="rect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626864" y="5010912"/>
            <a:ext cx="128016" cy="164592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91456" y="5010912"/>
            <a:ext cx="128016" cy="164592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5010912"/>
            <a:ext cx="128016" cy="164592"/>
          </a:xfrm>
          <a:prstGeom prst="rect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40" y="5010912"/>
            <a:ext cx="128016" cy="164592"/>
          </a:xfrm>
          <a:prstGeom prst="rect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85231" y="5010912"/>
            <a:ext cx="128016" cy="164592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449823" y="5010912"/>
            <a:ext cx="128016" cy="164592"/>
          </a:xfrm>
          <a:prstGeom prst="rect">
            <a:avLst/>
          </a:prstGeom>
          <a:solidFill>
            <a:srgbClr val="E1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614416" y="5010912"/>
            <a:ext cx="128016" cy="164592"/>
          </a:xfrm>
          <a:prstGeom prst="rect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779008" y="5010912"/>
            <a:ext cx="128016" cy="164592"/>
          </a:xfrm>
          <a:prstGeom prst="rect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726679" y="1965960"/>
            <a:ext cx="3611880" cy="1234440"/>
          </a:xfrm>
          <a:prstGeom prst="roundRect">
            <a:avLst/>
          </a:prstGeom>
          <a:solidFill>
            <a:srgbClr val="DEF3F0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726679" y="1965960"/>
            <a:ext cx="73152" cy="1234440"/>
          </a:xfrm>
          <a:prstGeom prst="rect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55279" y="216712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Aptos"/>
              </a:rPr>
              <a:t>Composition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2587752"/>
            <a:ext cx="32004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63341"/>
                </a:solidFill>
                <a:latin typeface="Aptos"/>
              </a:rPr>
              <a:t>Residue counts and percentages make the sequence inspectable.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26679" y="3429000"/>
            <a:ext cx="3611880" cy="1234440"/>
          </a:xfrm>
          <a:prstGeom prst="roundRect">
            <a:avLst/>
          </a:prstGeom>
          <a:solidFill>
            <a:srgbClr val="FFEDD8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726679" y="3429000"/>
            <a:ext cx="73152" cy="123444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55279" y="363016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Aptos"/>
              </a:rPr>
              <a:t>Heuristic predictions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4050791"/>
            <a:ext cx="32004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63341"/>
                </a:solidFill>
                <a:latin typeface="Aptos"/>
              </a:rPr>
              <a:t>Methods, sources, ranges, and limitations are shown explicitly.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26679" y="4892040"/>
            <a:ext cx="3611880" cy="777240"/>
          </a:xfrm>
          <a:prstGeom prst="roundRect">
            <a:avLst/>
          </a:prstGeom>
          <a:solidFill>
            <a:srgbClr val="E1ECF7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26679" y="4892040"/>
            <a:ext cx="73152" cy="777240"/>
          </a:xfrm>
          <a:prstGeom prst="rect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955279" y="5093207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Aptos"/>
              </a:rPr>
              <a:t>Trust boundary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8" y="5321807"/>
            <a:ext cx="347472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63341"/>
                </a:solidFill>
                <a:latin typeface="Aptos"/>
              </a:rPr>
              <a:t>Useful for orientation; not a replacement for experimental evidence.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510528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57584"/>
                </a:solidFill>
                <a:latin typeface="Aptos"/>
              </a:rPr>
              <a:t>WHAT'S IN MY PROTEIN?   |   05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7C9BE"/>
                </a:solidFill>
                <a:latin typeface="Aptos"/>
              </a:rPr>
              <a:t>05  |  TESTING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The most important result is an honest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Aptos"/>
              </a:rPr>
              <a:t>When providers are unavailable, the app says so and keeps local metrics usable.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4983480" cy="2423160"/>
          </a:xfrm>
          <a:prstGeom prst="roundRect">
            <a:avLst/>
          </a:prstGeom>
          <a:solidFill>
            <a:srgbClr val="193345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73152" cy="2423160"/>
          </a:xfrm>
          <a:prstGeom prst="rect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585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Aptos"/>
              </a:rPr>
              <a:t>Local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4572000" cy="1673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5840" y="2651760"/>
            <a:ext cx="4526280" cy="1600200"/>
          </a:xfrm>
          <a:prstGeom prst="rect">
            <a:avLst/>
          </a:prstGeom>
          <a:solidFill>
            <a:srgbClr val="19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47C9BE"/>
                </a:solidFill>
                <a:latin typeface="Aptos"/>
              </a:rPr>
              <a:t>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82112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Validation, metrics, local predictions, saved library, comparison, and reports remain usable.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57400"/>
            <a:ext cx="4983480" cy="2423160"/>
          </a:xfrm>
          <a:prstGeom prst="roundRect">
            <a:avLst/>
          </a:prstGeom>
          <a:solidFill>
            <a:srgbClr val="193345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057400"/>
            <a:ext cx="73152" cy="24231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2585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Aptos"/>
              </a:rPr>
              <a:t>Provider-dependent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679192"/>
            <a:ext cx="4572000" cy="1673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2651760"/>
            <a:ext cx="4526280" cy="1600200"/>
          </a:xfrm>
          <a:prstGeom prst="rect">
            <a:avLst/>
          </a:prstGeom>
          <a:solidFill>
            <a:srgbClr val="19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7432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2994A"/>
                </a:solidFill>
                <a:latin typeface="Aptos"/>
              </a:rPr>
              <a:t>EXPLICITLY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182112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Provider failures are visible instead of being presented as valid biological findings.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47C9BE"/>
                </a:solidFill>
                <a:latin typeface="Aptos"/>
              </a:rPr>
              <a:t>Testing takeaway: graceful degradation protects user trust.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AABCC9"/>
                </a:solidFill>
                <a:latin typeface="Aptos"/>
              </a:rPr>
              <a:t>WHAT'S IN MY PROTEIN?   |   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415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9791"/>
                </a:solidFill>
                <a:latin typeface="Aptos"/>
              </a:rPr>
              <a:t>06  | 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F1F33"/>
                </a:solidFill>
                <a:latin typeface="Aptos"/>
              </a:rPr>
              <a:t>What is complete, partial, and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57584"/>
                </a:solidFill>
                <a:latin typeface="Aptos"/>
              </a:rPr>
              <a:t>The submission story is strongest when the current baseline and remaining work are both 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383280" cy="3108960"/>
          </a:xfrm>
          <a:prstGeom prst="roundRect">
            <a:avLst/>
          </a:prstGeom>
          <a:solidFill>
            <a:srgbClr val="DEF3F0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73152" cy="3108960"/>
          </a:xfrm>
          <a:prstGeom prst="rect">
            <a:avLst/>
          </a:prstGeom>
          <a:solidFill>
            <a:srgbClr val="14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Aptos"/>
              </a:rPr>
              <a:t>Current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297180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0" dirty="0">
                <a:solidFill>
                  <a:srgbClr val="263341"/>
                </a:solidFill>
                <a:latin typeface="Aptos"/>
              </a:rPr>
              <a:t>-</a:t>
            </a:r>
            <a:r>
              <a:rPr sz="1500" b="0" dirty="0">
                <a:solidFill>
                  <a:srgbClr val="263341"/>
                </a:solidFill>
                <a:latin typeface="Aptos"/>
              </a:rPr>
              <a:t>Local analysis
</a:t>
            </a:r>
            <a:r>
              <a:rPr lang="en-US" sz="1500" b="0" dirty="0">
                <a:solidFill>
                  <a:srgbClr val="263341"/>
                </a:solidFill>
                <a:latin typeface="Aptos"/>
              </a:rPr>
              <a:t>-</a:t>
            </a:r>
            <a:r>
              <a:rPr sz="1500" b="0" dirty="0">
                <a:solidFill>
                  <a:srgbClr val="263341"/>
                </a:solidFill>
                <a:latin typeface="Aptos"/>
              </a:rPr>
              <a:t>Validation
</a:t>
            </a:r>
            <a:r>
              <a:rPr lang="en-US" sz="1500" b="0" dirty="0">
                <a:solidFill>
                  <a:srgbClr val="263341"/>
                </a:solidFill>
                <a:latin typeface="Aptos"/>
              </a:rPr>
              <a:t>-</a:t>
            </a:r>
            <a:r>
              <a:rPr sz="1500" b="0" dirty="0">
                <a:solidFill>
                  <a:srgbClr val="263341"/>
                </a:solidFill>
                <a:latin typeface="Aptos"/>
              </a:rPr>
              <a:t>Saved library
</a:t>
            </a:r>
            <a:r>
              <a:rPr lang="en-US" sz="1500" b="0" dirty="0">
                <a:solidFill>
                  <a:srgbClr val="263341"/>
                </a:solidFill>
                <a:latin typeface="Aptos"/>
              </a:rPr>
              <a:t>-</a:t>
            </a:r>
            <a:r>
              <a:rPr sz="1500" b="0" dirty="0">
                <a:solidFill>
                  <a:srgbClr val="263341"/>
                </a:solidFill>
                <a:latin typeface="Aptos"/>
              </a:rPr>
              <a:t>Comparison
</a:t>
            </a:r>
            <a:r>
              <a:rPr lang="en-US" sz="1500" b="0" dirty="0">
                <a:solidFill>
                  <a:srgbClr val="263341"/>
                </a:solidFill>
                <a:latin typeface="Aptos"/>
              </a:rPr>
              <a:t>-</a:t>
            </a:r>
            <a:r>
              <a:rPr sz="1500" b="0" dirty="0">
                <a:solidFill>
                  <a:srgbClr val="263341"/>
                </a:solidFill>
                <a:latin typeface="Aptos"/>
              </a:rPr>
              <a:t>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383280" cy="3108960"/>
          </a:xfrm>
          <a:prstGeom prst="roundRect">
            <a:avLst/>
          </a:prstGeom>
          <a:solidFill>
            <a:srgbClr val="FFEDD8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73152" cy="3108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212848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Aptos"/>
              </a:rPr>
              <a:t>Partial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33472"/>
            <a:ext cx="297180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0" dirty="0">
                <a:solidFill>
                  <a:srgbClr val="263341"/>
                </a:solidFill>
                <a:latin typeface="Aptos"/>
              </a:rPr>
              <a:t>-</a:t>
            </a:r>
            <a:r>
              <a:rPr sz="1500" b="0" dirty="0">
                <a:solidFill>
                  <a:srgbClr val="263341"/>
                </a:solidFill>
                <a:latin typeface="Aptos"/>
              </a:rPr>
              <a:t>Prediction providers
</a:t>
            </a:r>
            <a:r>
              <a:rPr lang="en-US" sz="1500" b="0" dirty="0">
                <a:solidFill>
                  <a:srgbClr val="263341"/>
                </a:solidFill>
                <a:latin typeface="Aptos"/>
              </a:rPr>
              <a:t>-</a:t>
            </a:r>
            <a:r>
              <a:rPr sz="1500" b="0" dirty="0">
                <a:solidFill>
                  <a:srgbClr val="263341"/>
                </a:solidFill>
                <a:latin typeface="Aptos"/>
              </a:rPr>
              <a:t>External search providers
These paths are intentionally explicit when not configured.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011680"/>
            <a:ext cx="3383280" cy="3108960"/>
          </a:xfrm>
          <a:prstGeom prst="roundRect">
            <a:avLst/>
          </a:prstGeom>
          <a:solidFill>
            <a:srgbClr val="E1ECF7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2011680"/>
            <a:ext cx="73152" cy="3108960"/>
          </a:xfrm>
          <a:prstGeom prst="rect">
            <a:avLst/>
          </a:prstGeom>
          <a:solidFill>
            <a:srgbClr val="47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212848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1F33"/>
                </a:solidFill>
                <a:latin typeface="Aptos"/>
              </a:rPr>
              <a:t>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33472"/>
            <a:ext cx="2971800" cy="2359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263341"/>
                </a:solidFill>
                <a:latin typeface="Aptos"/>
              </a:rPr>
              <a:t>Immediate: participant evidence, independent AI review, browser acceptance checks.
Longer term: configure providers and add browser automation.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57584"/>
                </a:solidFill>
                <a:latin typeface="Aptos"/>
              </a:rPr>
              <a:t>WHAT'S IN MY PROTEIN?   |   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57</TotalTime>
  <Words>591</Words>
  <Application>Microsoft Office PowerPoint</Application>
  <PresentationFormat>Widescreen</PresentationFormat>
  <Paragraphs>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Neue Haas Grotesk Text Pro</vt:lpstr>
      <vt:lpstr>System Font Regular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What's In My Protein?</dc:title>
  <dc:subject>Project 1 presentation</dc:subject>
  <dc:creator>Protein Sequence Analyzer project</dc:creator>
  <cp:keywords/>
  <dc:description>Generated from PRESENTATION.md</dc:description>
  <cp:lastModifiedBy>Patti Crosswait</cp:lastModifiedBy>
  <cp:revision>8</cp:revision>
  <dcterms:created xsi:type="dcterms:W3CDTF">2013-01-27T09:14:16Z</dcterms:created>
  <dcterms:modified xsi:type="dcterms:W3CDTF">2026-10-22T00:40:57Z</dcterms:modified>
  <cp:category/>
</cp:coreProperties>
</file>